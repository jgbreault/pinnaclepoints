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8bebed109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e8bebed109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8bebed10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8bebed10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e8bebed10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e8bebed10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8bebed109_1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e8bebed109_1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e8bebed109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e8bebed109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8bebed109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8bebed109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8bebed109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e8bebed109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e8bebed10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e8bebed10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e8bebed109_1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e8bebed109_1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e8bebed109_1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e8bebed109_1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e8bebed109_1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e8bebed109_1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8bebed109_1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8bebed109_1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112162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Pinnacle Points</a:t>
            </a:r>
            <a:endParaRPr b="1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2441850" y="3338275"/>
            <a:ext cx="426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Points from which no higher point can be seen</a:t>
            </a:r>
            <a:endParaRPr dirty="0"/>
          </a:p>
        </p:txBody>
      </p:sp>
      <p:pic>
        <p:nvPicPr>
          <p:cNvPr id="56" name="Google Shape;56;p13" title="Screenshot 2026-06-05 at 12.27.39 PM.png"/>
          <p:cNvPicPr preferRelativeResize="0"/>
          <p:nvPr/>
        </p:nvPicPr>
        <p:blipFill rotWithShape="1">
          <a:blip r:embed="rId3">
            <a:alphaModFix/>
          </a:blip>
          <a:srcRect t="13364" b="43679"/>
          <a:stretch/>
        </p:blipFill>
        <p:spPr>
          <a:xfrm>
            <a:off x="0" y="0"/>
            <a:ext cx="9144003" cy="18394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3577350" y="4294925"/>
            <a:ext cx="1989300" cy="44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</a:rPr>
              <a:t>Jamie Breault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</a:rPr>
              <a:t>June 10, 2026</a:t>
            </a: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About Me: Jamie Breault</a:t>
            </a:r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57921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Master of Data Science at UBC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6 years developing insurance software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Undergrad in Physics at the University of Waterloo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Avid backpacker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52 multi-day hikes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Often wonder if I am at the highest point in sight</a:t>
            </a:r>
            <a:endParaRPr/>
          </a:p>
        </p:txBody>
      </p:sp>
      <p:pic>
        <p:nvPicPr>
          <p:cNvPr id="64" name="Google Shape;64;p14" title="Silver Peak - Summit.jpg"/>
          <p:cNvPicPr preferRelativeResize="0"/>
          <p:nvPr/>
        </p:nvPicPr>
        <p:blipFill rotWithShape="1">
          <a:blip r:embed="rId3">
            <a:alphaModFix/>
          </a:blip>
          <a:srcRect l="30905" r="29845"/>
          <a:stretch/>
        </p:blipFill>
        <p:spPr>
          <a:xfrm>
            <a:off x="6452172" y="0"/>
            <a:ext cx="26918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Sources</a:t>
            </a:r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Global Summits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25 million summits with over 100 feet of prominence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OTOTW Mountains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6500 summits where no land rises above its horizontal plane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Open-Meteo’s Elevation API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Fetches elevation by latitude and longitude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Beyond Horizons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73 extreme lines-of-sight confirmed by photograph</a:t>
            </a:r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Finding Pinnacle Points</a:t>
            </a:r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 OTOTW mountain is a pinnacle point candidate. For each: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Validate higher local summits to test if line-of-sight analysis is worthwhile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 line-of-sight analysis for summits that pass validation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Earth’s curvature with topography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Atmospheric refraction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Atmospheric scattering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If no higher summits have line-of-sight with the candidate, then it is a pinnacle point</a:t>
            </a:r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Maximum Horizon Distance (MHD)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MHD is the maximum distance that can be seen from a point assuming all surroundings are at sea level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Line-of-sight is impossible if the distance between the observer and target is greater than the sum of their MHDs</a:t>
            </a:r>
            <a:endParaRPr/>
          </a:p>
        </p:txBody>
      </p:sp>
      <p:pic>
        <p:nvPicPr>
          <p:cNvPr id="86" name="Google Shape;86;p17"/>
          <p:cNvPicPr preferRelativeResize="0"/>
          <p:nvPr/>
        </p:nvPicPr>
        <p:blipFill rotWithShape="1">
          <a:blip r:embed="rId3">
            <a:alphaModFix/>
          </a:blip>
          <a:srcRect l="2820" r="6222" b="24625"/>
          <a:stretch/>
        </p:blipFill>
        <p:spPr>
          <a:xfrm>
            <a:off x="5208975" y="2982957"/>
            <a:ext cx="2859125" cy="1680268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 txBox="1"/>
          <p:nvPr/>
        </p:nvSpPr>
        <p:spPr>
          <a:xfrm>
            <a:off x="5609783" y="2837700"/>
            <a:ext cx="1211400" cy="5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1950" tIns="111950" rIns="111950" bIns="11195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47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MHD</a:t>
            </a:r>
            <a:r>
              <a:rPr lang="en" sz="1347" baseline="-25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r>
            <a:endParaRPr sz="1347" baseline="-25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6642517" y="2837701"/>
            <a:ext cx="1211400" cy="5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1950" tIns="111950" rIns="111950" bIns="11195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47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MHD</a:t>
            </a:r>
            <a:r>
              <a:rPr lang="en" sz="1347" baseline="-25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endParaRPr sz="1347" baseline="-25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9" name="Google Shape;89;p17" title="Screenshot 2026-06-06 at 9.05.31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52100" y="3231700"/>
            <a:ext cx="2352350" cy="10403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Earth’s Curvature with Topography</a:t>
            </a:r>
            <a:endParaRPr/>
          </a:p>
        </p:txBody>
      </p:sp>
      <p:sp>
        <p:nvSpPr>
          <p:cNvPr id="96" name="Google Shape;96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Space points 100 m apart between the observer and target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For each, get elevation and distance from observer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Transform to a physically representative coordinate system</a:t>
            </a:r>
            <a:endParaRPr/>
          </a:p>
        </p:txBody>
      </p:sp>
      <p:pic>
        <p:nvPicPr>
          <p:cNvPr id="97" name="Google Shape;97;p18" title="longest_confirmed_LOS_fla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400" y="1213776"/>
            <a:ext cx="4267199" cy="1848359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 title="longest_confirmed_LO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4400" y="3170884"/>
            <a:ext cx="4267199" cy="1813239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8"/>
          <p:cNvSpPr txBox="1"/>
          <p:nvPr/>
        </p:nvSpPr>
        <p:spPr>
          <a:xfrm>
            <a:off x="5114050" y="931226"/>
            <a:ext cx="20007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Before Step 3: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00" name="Google Shape;100;p18"/>
          <p:cNvSpPr txBox="1"/>
          <p:nvPr/>
        </p:nvSpPr>
        <p:spPr>
          <a:xfrm>
            <a:off x="5194075" y="2880575"/>
            <a:ext cx="20007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After Step 3: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01" name="Google Shape;101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Atmospheric Refraction</a:t>
            </a:r>
            <a:endParaRPr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Determine the minimum light curvature needed for all confirmed lines-of-sight to be theoretically possible (</a:t>
            </a:r>
            <a:r>
              <a:rPr lang="en" i="1"/>
              <a:t>k=6.4)</a:t>
            </a:r>
            <a:endParaRPr i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Use this curvature whenever doing line-of-sight analysis for pinnacle point candidates</a:t>
            </a:r>
            <a:endParaRPr/>
          </a:p>
        </p:txBody>
      </p:sp>
      <p:pic>
        <p:nvPicPr>
          <p:cNvPr id="108" name="Google Shape;108;p19" title="longest_confirmed_L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7450" y="2562910"/>
            <a:ext cx="4788700" cy="2034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9" title="Screenshot 2026-06-06 at 9.03.5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43185" y="3168286"/>
            <a:ext cx="1808674" cy="51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Atmospheric Scattering</a:t>
            </a: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 point’s scattering coefficient (</a:t>
            </a:r>
            <a:r>
              <a:rPr lang="en" i="1"/>
              <a:t>β</a:t>
            </a:r>
            <a:r>
              <a:rPr lang="en"/>
              <a:t>) can be calculated from its altitude (</a:t>
            </a:r>
            <a:r>
              <a:rPr lang="en" i="1"/>
              <a:t>h</a:t>
            </a:r>
            <a:r>
              <a:rPr lang="en" i="1" baseline="-25000"/>
              <a:t>L</a:t>
            </a:r>
            <a:r>
              <a:rPr lang="en"/>
              <a:t>)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Integrate over the light’s path to get the average (</a:t>
            </a:r>
            <a:r>
              <a:rPr lang="en" i="1"/>
              <a:t>β</a:t>
            </a:r>
            <a:r>
              <a:rPr lang="en" i="1" baseline="-25000"/>
              <a:t>avg</a:t>
            </a:r>
            <a:r>
              <a:rPr lang="en"/>
              <a:t>)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Calculate contrast (</a:t>
            </a:r>
            <a:r>
              <a:rPr lang="en" i="1"/>
              <a:t>C</a:t>
            </a:r>
            <a:r>
              <a:rPr lang="en"/>
              <a:t>), &gt;0.02 is required for visibility</a:t>
            </a:r>
            <a:endParaRPr/>
          </a:p>
        </p:txBody>
      </p:sp>
      <p:pic>
        <p:nvPicPr>
          <p:cNvPr id="117" name="Google Shape;117;p20" title="Screenshot 2026-06-05 at 11.18.57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35303" y="3501964"/>
            <a:ext cx="1273391" cy="331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0" title="Screenshot 2026-06-05 at 11.18.0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46100" y="2464338"/>
            <a:ext cx="1851781" cy="6576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20" title="Screenshot 2026-06-05 at 11.17.52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02645" y="1647778"/>
            <a:ext cx="1338693" cy="36382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Partial Irradiation</a:t>
            </a:r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Extreme lines-of-sight are observed just before sunrise when there is partial irradiation to increase contrast.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Suppose there are two regions, the final region is fully irradiated and the first region is reduced by a factor </a:t>
            </a:r>
            <a:r>
              <a:rPr lang="en" i="1"/>
              <a:t>α</a:t>
            </a:r>
            <a:r>
              <a:rPr lang="en"/>
              <a:t>.</a:t>
            </a:r>
            <a:endParaRPr/>
          </a:p>
        </p:txBody>
      </p:sp>
      <p:pic>
        <p:nvPicPr>
          <p:cNvPr id="127" name="Google Shape;127;p21" title="longest_confirmed_L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55625" y="2720900"/>
            <a:ext cx="4776675" cy="2029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1" title="Screenshot 2026-06-06 at 9.52.49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3550" y="2892327"/>
            <a:ext cx="2713842" cy="1163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 and Validation</a:t>
            </a:r>
            <a:endParaRPr/>
          </a:p>
        </p:txBody>
      </p:sp>
      <p:sp>
        <p:nvSpPr>
          <p:cNvPr id="135" name="Google Shape;135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1554 pinnacle points were identified. </a:t>
            </a:r>
            <a:r>
              <a:rPr lang="en" dirty="0"/>
              <a:t>An interactive map was shared online: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 err="1"/>
              <a:t>prominence@groups.io</a:t>
            </a:r>
            <a:r>
              <a:rPr lang="en" dirty="0"/>
              <a:t> on Email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Mountain metric specialists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World-record-holding mountaineers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r/mountaineering on Reddit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Mountaineering enthusiasts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dirty="0"/>
              <a:t>The 4 confirmed errors discovered so far are the </a:t>
            </a:r>
            <a:br>
              <a:rPr lang="en" dirty="0"/>
            </a:br>
            <a:r>
              <a:rPr lang="en" dirty="0"/>
              <a:t>result of inaccuracies in elevation data.</a:t>
            </a:r>
            <a:endParaRPr dirty="0"/>
          </a:p>
        </p:txBody>
      </p:sp>
      <p:sp>
        <p:nvSpPr>
          <p:cNvPr id="136" name="Google Shape;13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137" name="Google Shape;137;p22" title="Screenshot 2026-06-05 at 12.27.39 PM.png"/>
          <p:cNvPicPr preferRelativeResize="0"/>
          <p:nvPr/>
        </p:nvPicPr>
        <p:blipFill rotWithShape="1">
          <a:blip r:embed="rId3">
            <a:alphaModFix/>
          </a:blip>
          <a:srcRect l="42963" t="8241" r="33885" b="43677"/>
          <a:stretch/>
        </p:blipFill>
        <p:spPr>
          <a:xfrm>
            <a:off x="5889751" y="2139750"/>
            <a:ext cx="2497802" cy="2429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2" title="Screenshot 2026-06-05 at 12.12.49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42827" y="2561150"/>
            <a:ext cx="1591649" cy="1586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  <a:endParaRPr/>
          </a:p>
        </p:txBody>
      </p:sp>
      <p:sp>
        <p:nvSpPr>
          <p:cNvPr id="144" name="Google Shape;144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Investigate alternate light modelling solutions based on feedback</a:t>
            </a:r>
            <a:endParaRPr dirty="0"/>
          </a:p>
        </p:txBody>
      </p:sp>
      <p:sp>
        <p:nvSpPr>
          <p:cNvPr id="145" name="Google Shape;145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4" title="Screenshot 2026-06-05 at 12.27.39 PM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09225" y="0"/>
            <a:ext cx="10984074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sp>
        <p:nvSpPr>
          <p:cNvPr id="152" name="Google Shape;152;p24"/>
          <p:cNvSpPr/>
          <p:nvPr/>
        </p:nvSpPr>
        <p:spPr>
          <a:xfrm>
            <a:off x="1828811" y="1574436"/>
            <a:ext cx="5486401" cy="809244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3810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Arial"/>
              </a:rPr>
              <a:t>Questions?</a:t>
            </a:r>
          </a:p>
        </p:txBody>
      </p:sp>
      <p:pic>
        <p:nvPicPr>
          <p:cNvPr id="153" name="Google Shape;153;p24" title="Screenshot 2026-06-05 at 12.12.49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76177" y="2901761"/>
            <a:ext cx="1591649" cy="1586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430</Words>
  <Application>Microsoft Macintosh PowerPoint</Application>
  <PresentationFormat>On-screen Show (16:9)</PresentationFormat>
  <Paragraphs>73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Times New Roman</vt:lpstr>
      <vt:lpstr>Simple Light</vt:lpstr>
      <vt:lpstr>Pinnacle Points</vt:lpstr>
      <vt:lpstr>About Me: Jamie Breault</vt:lpstr>
      <vt:lpstr>Data Sources</vt:lpstr>
      <vt:lpstr>Finding Pinnacle Points</vt:lpstr>
      <vt:lpstr>Maximum Horizon Distance (MHD)</vt:lpstr>
      <vt:lpstr>Earth’s Curvature with Topography</vt:lpstr>
      <vt:lpstr>Atmospheric Refraction</vt:lpstr>
      <vt:lpstr>Atmospheric Scattering</vt:lpstr>
      <vt:lpstr>Partial Irradiation</vt:lpstr>
      <vt:lpstr>Result and Validation</vt:lpstr>
      <vt:lpstr>Next Steps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Jamie Breault</cp:lastModifiedBy>
  <cp:revision>2</cp:revision>
  <dcterms:modified xsi:type="dcterms:W3CDTF">2026-06-29T05:00:52Z</dcterms:modified>
</cp:coreProperties>
</file>