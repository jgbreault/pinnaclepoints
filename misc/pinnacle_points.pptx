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8bebed109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8bebed109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8bebed1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8bebed1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8bebed10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8bebed10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8bebed109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8bebed109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8bebed109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8bebed109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8bebed10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8bebed10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8bebed10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8bebed10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8bebed10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8bebed10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8bebed109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8bebed109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8bebed109_1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8bebed109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8bebed109_1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8bebed109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8bebed109_1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8bebed109_1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1216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Pinnacle Points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441850" y="3338275"/>
            <a:ext cx="4260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Points from which no higher point can be seen</a:t>
            </a:r>
            <a:endParaRPr/>
          </a:p>
        </p:txBody>
      </p:sp>
      <p:pic>
        <p:nvPicPr>
          <p:cNvPr id="56" name="Google Shape;56;p13" title="Screenshot 2026-06-05 at 12.27.39 PM.png"/>
          <p:cNvPicPr preferRelativeResize="0"/>
          <p:nvPr/>
        </p:nvPicPr>
        <p:blipFill rotWithShape="1">
          <a:blip r:embed="rId3">
            <a:alphaModFix/>
          </a:blip>
          <a:srcRect b="43679" l="0" r="0" t="13364"/>
          <a:stretch/>
        </p:blipFill>
        <p:spPr>
          <a:xfrm>
            <a:off x="0" y="0"/>
            <a:ext cx="9144003" cy="183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577350" y="4294925"/>
            <a:ext cx="1989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Jamie Breault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Me: Jamie Breault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579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Master of Data Science at UBC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6 years developing </a:t>
            </a:r>
            <a:r>
              <a:rPr lang="en"/>
              <a:t>insurance </a:t>
            </a:r>
            <a:r>
              <a:rPr lang="en"/>
              <a:t>software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Undergrad in Physics at the University of Waterloo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Avid backpacker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52 multi-day hikes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Often wonder if I am at the highest point in sight</a:t>
            </a:r>
            <a:endParaRPr/>
          </a:p>
        </p:txBody>
      </p:sp>
      <p:pic>
        <p:nvPicPr>
          <p:cNvPr id="64" name="Google Shape;64;p14" title="Silver Peak - Summit.jpg"/>
          <p:cNvPicPr preferRelativeResize="0"/>
          <p:nvPr/>
        </p:nvPicPr>
        <p:blipFill rotWithShape="1">
          <a:blip r:embed="rId3">
            <a:alphaModFix/>
          </a:blip>
          <a:srcRect b="0" l="30905" r="29845" t="0"/>
          <a:stretch/>
        </p:blipFill>
        <p:spPr>
          <a:xfrm>
            <a:off x="6452172" y="0"/>
            <a:ext cx="26918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Sources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Global Summits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25</a:t>
            </a:r>
            <a:r>
              <a:rPr lang="en"/>
              <a:t> million summits</a:t>
            </a:r>
            <a:r>
              <a:rPr lang="en"/>
              <a:t> with over 100 feet of prominence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OTOTW Mountains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6500 summits where no land rises above its horizontal plane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Open-Meteo’s </a:t>
            </a:r>
            <a:r>
              <a:rPr lang="en"/>
              <a:t>Elevation API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Fetches elevation by latitude and longitude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Beyond Horizons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73 extreme</a:t>
            </a:r>
            <a:r>
              <a:rPr lang="en"/>
              <a:t> </a:t>
            </a:r>
            <a:r>
              <a:rPr lang="en"/>
              <a:t>lines-of-sight confirmed by photograph</a:t>
            </a:r>
            <a:endParaRPr/>
          </a:p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Pinnacle Points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OTOTW mountain is a pinnacle point candidate. For each: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Validate</a:t>
            </a:r>
            <a:r>
              <a:rPr lang="en"/>
              <a:t> </a:t>
            </a:r>
            <a:r>
              <a:rPr lang="en"/>
              <a:t>higher local summits </a:t>
            </a:r>
            <a:r>
              <a:rPr lang="en"/>
              <a:t>to test if line-of-sight analysis is worthwhile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Do</a:t>
            </a:r>
            <a:r>
              <a:rPr lang="en"/>
              <a:t> line-of-sight analysis for summits that pass validation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Earth’s curvature with topography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Atmospheric refraction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Atmospheric scattering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If no higher summits have line-of-sight with the candidate, then it is a pinnacle point</a:t>
            </a:r>
            <a:endParaRPr/>
          </a:p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</a:t>
            </a:r>
            <a:r>
              <a:rPr lang="en"/>
              <a:t>imum</a:t>
            </a:r>
            <a:r>
              <a:rPr lang="en"/>
              <a:t> Horizon Distance</a:t>
            </a:r>
            <a:r>
              <a:rPr lang="en"/>
              <a:t> (MHD)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MHD is the maximum distance that can be seen from a point assuming all surroundings are at sea level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Line-of-sight is impossible if the distance between the observer and target is greater than the sum of their MHDs</a:t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3">
            <a:alphaModFix/>
          </a:blip>
          <a:srcRect b="24625" l="2820" r="6222" t="0"/>
          <a:stretch/>
        </p:blipFill>
        <p:spPr>
          <a:xfrm>
            <a:off x="5208975" y="2982957"/>
            <a:ext cx="2859125" cy="168026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5609783" y="2837700"/>
            <a:ext cx="12114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1950" lIns="111950" spcFirstLastPara="1" rIns="111950" wrap="square" tIns="111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MHD</a:t>
            </a:r>
            <a:r>
              <a:rPr baseline="-25000" lang="en" sz="134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34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6642517" y="2837701"/>
            <a:ext cx="12114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1950" lIns="111950" spcFirstLastPara="1" rIns="111950" wrap="square" tIns="111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MHD</a:t>
            </a:r>
            <a:r>
              <a:rPr baseline="-25000" lang="en" sz="134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34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" name="Google Shape;89;p17" title="Screenshot 2026-06-06 at 9.05.31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2100" y="3231700"/>
            <a:ext cx="2352350" cy="10403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Earth’s </a:t>
            </a:r>
            <a:r>
              <a:rPr lang="en"/>
              <a:t>Curvature with Topography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Space points 100 m apart between the observer and </a:t>
            </a:r>
            <a:r>
              <a:rPr lang="en"/>
              <a:t>target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For each, get elevation and distance from observer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Transform to a physically representative coordinate system</a:t>
            </a:r>
            <a:endParaRPr/>
          </a:p>
        </p:txBody>
      </p:sp>
      <p:pic>
        <p:nvPicPr>
          <p:cNvPr id="97" name="Google Shape;97;p18" title="longest_confirmed_LOS_fla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213776"/>
            <a:ext cx="4267199" cy="1848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 title="longest_confirmed_LO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00" y="3170884"/>
            <a:ext cx="4267199" cy="181323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/>
          <p:nvPr/>
        </p:nvSpPr>
        <p:spPr>
          <a:xfrm>
            <a:off x="5114050" y="931226"/>
            <a:ext cx="20007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Before Step 3: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5194075" y="2880575"/>
            <a:ext cx="20007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After Step 3</a:t>
            </a:r>
            <a:r>
              <a:rPr lang="en">
                <a:solidFill>
                  <a:schemeClr val="dk2"/>
                </a:solidFill>
              </a:rPr>
              <a:t>: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Atmospheric Refraction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Determine the minimum light </a:t>
            </a:r>
            <a:r>
              <a:rPr lang="en"/>
              <a:t>curvature</a:t>
            </a:r>
            <a:r>
              <a:rPr lang="en"/>
              <a:t> needed for all confirmed lines-of-sight to be theoretically possible (</a:t>
            </a:r>
            <a:r>
              <a:rPr i="1" lang="en"/>
              <a:t>k=6.4)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 this </a:t>
            </a:r>
            <a:r>
              <a:rPr lang="en"/>
              <a:t>curvature</a:t>
            </a:r>
            <a:r>
              <a:rPr lang="en"/>
              <a:t> </a:t>
            </a:r>
            <a:r>
              <a:rPr lang="en"/>
              <a:t>whenever doing line-of-sight analysis </a:t>
            </a:r>
            <a:r>
              <a:rPr lang="en"/>
              <a:t>for pinnacle point candidate</a:t>
            </a:r>
            <a:r>
              <a:rPr lang="en"/>
              <a:t>s</a:t>
            </a:r>
            <a:endParaRPr/>
          </a:p>
        </p:txBody>
      </p:sp>
      <p:pic>
        <p:nvPicPr>
          <p:cNvPr id="108" name="Google Shape;108;p19" title="longest_confirmed_L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7450" y="2562910"/>
            <a:ext cx="4788700" cy="20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 title="Screenshot 2026-06-06 at 9.03.54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185" y="3168286"/>
            <a:ext cx="1808674" cy="51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Atmospheric Scattering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 point’s scattering coefficient (</a:t>
            </a:r>
            <a:r>
              <a:rPr i="1" lang="en"/>
              <a:t>β</a:t>
            </a:r>
            <a:r>
              <a:rPr lang="en"/>
              <a:t>) can be calculated from its altitude (</a:t>
            </a:r>
            <a:r>
              <a:rPr i="1" lang="en"/>
              <a:t>h</a:t>
            </a:r>
            <a:r>
              <a:rPr baseline="-25000" i="1" lang="en"/>
              <a:t>L</a:t>
            </a:r>
            <a:r>
              <a:rPr lang="en"/>
              <a:t>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Integrate over the light’s path to get the average (</a:t>
            </a:r>
            <a:r>
              <a:rPr i="1" lang="en"/>
              <a:t>β</a:t>
            </a:r>
            <a:r>
              <a:rPr baseline="-25000" i="1" lang="en"/>
              <a:t>avg</a:t>
            </a:r>
            <a:r>
              <a:rPr lang="en"/>
              <a:t>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Calculate contrast (</a:t>
            </a:r>
            <a:r>
              <a:rPr i="1" lang="en"/>
              <a:t>C</a:t>
            </a:r>
            <a:r>
              <a:rPr lang="en"/>
              <a:t>), &gt;0.02 is required for visibility</a:t>
            </a:r>
            <a:endParaRPr/>
          </a:p>
        </p:txBody>
      </p:sp>
      <p:pic>
        <p:nvPicPr>
          <p:cNvPr id="117" name="Google Shape;117;p20" title="Screenshot 2026-06-05 at 11.18.5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5303" y="3501964"/>
            <a:ext cx="1273391" cy="33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 title="Screenshot 2026-06-05 at 11.18.0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6100" y="2464338"/>
            <a:ext cx="1851781" cy="657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 title="Screenshot 2026-06-05 at 11.17.52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2645" y="1647778"/>
            <a:ext cx="1338693" cy="363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Partial Irradiation</a:t>
            </a:r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Extreme lines-of-sight are observed just before sunrise when there is </a:t>
            </a:r>
            <a:r>
              <a:rPr lang="en"/>
              <a:t>partial irradiation to increase contrast.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Suppose there are two regions, the final region is fully irradiated and the first region is reduced by a factor </a:t>
            </a:r>
            <a:r>
              <a:rPr i="1" lang="en"/>
              <a:t>α</a:t>
            </a:r>
            <a:r>
              <a:rPr lang="en"/>
              <a:t>.</a:t>
            </a:r>
            <a:endParaRPr/>
          </a:p>
        </p:txBody>
      </p:sp>
      <p:pic>
        <p:nvPicPr>
          <p:cNvPr id="127" name="Google Shape;127;p21" title="longest_confirmed_L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5625" y="2720900"/>
            <a:ext cx="4776675" cy="202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 title="Screenshot 2026-06-06 at 9.52.49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550" y="2892327"/>
            <a:ext cx="2713842" cy="116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 and Validation</a:t>
            </a:r>
            <a:endParaRPr/>
          </a:p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1553 pinnacle points were identified. </a:t>
            </a:r>
            <a:r>
              <a:rPr lang="en"/>
              <a:t>An interactive map was shared online: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prominence@groups.io on Email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Mountain metric </a:t>
            </a:r>
            <a:r>
              <a:rPr lang="en"/>
              <a:t>specialists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</a:t>
            </a:r>
            <a:r>
              <a:rPr lang="en"/>
              <a:t>orld-record-</a:t>
            </a:r>
            <a:r>
              <a:rPr lang="en"/>
              <a:t>holding mountaineers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r/mountaineering on Reddit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Mountaineering </a:t>
            </a:r>
            <a:r>
              <a:rPr lang="en"/>
              <a:t>enthusiasts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4 confirmed errors discovered so far are the </a:t>
            </a:r>
            <a:br>
              <a:rPr lang="en"/>
            </a:br>
            <a:r>
              <a:rPr lang="en"/>
              <a:t>result of inaccuracies in elevation data.</a:t>
            </a:r>
            <a:endParaRPr/>
          </a:p>
        </p:txBody>
      </p:sp>
      <p:sp>
        <p:nvSpPr>
          <p:cNvPr id="136" name="Google Shape;13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7" name="Google Shape;137;p22" title="Screenshot 2026-06-05 at 12.27.39 PM.png"/>
          <p:cNvPicPr preferRelativeResize="0"/>
          <p:nvPr/>
        </p:nvPicPr>
        <p:blipFill rotWithShape="1">
          <a:blip r:embed="rId3">
            <a:alphaModFix/>
          </a:blip>
          <a:srcRect b="43677" l="42963" r="33885" t="8241"/>
          <a:stretch/>
        </p:blipFill>
        <p:spPr>
          <a:xfrm>
            <a:off x="5889751" y="2139750"/>
            <a:ext cx="2497802" cy="242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2" title="Screenshot 2026-06-05 at 12.12.4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2827" y="2561150"/>
            <a:ext cx="1591649" cy="158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Find all theoretical lines-of-sight on Earth</a:t>
            </a:r>
            <a:r>
              <a:rPr lang="en"/>
              <a:t> above a threshold distance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Investigate alternate light modelling solutions based on feedback</a:t>
            </a:r>
            <a:endParaRPr/>
          </a:p>
        </p:txBody>
      </p:sp>
      <p:sp>
        <p:nvSpPr>
          <p:cNvPr id="145" name="Google Shape;14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4" title="Screenshot 2026-06-05 at 12.27.39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09225" y="0"/>
            <a:ext cx="1098407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24"/>
          <p:cNvSpPr/>
          <p:nvPr/>
        </p:nvSpPr>
        <p:spPr>
          <a:xfrm>
            <a:off x="1828811" y="1574436"/>
            <a:ext cx="5486401" cy="80924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1"/>
                </a:solidFill>
                <a:latin typeface="Arial"/>
              </a:rPr>
              <a:t>Questions?</a:t>
            </a:r>
          </a:p>
        </p:txBody>
      </p:sp>
      <p:pic>
        <p:nvPicPr>
          <p:cNvPr id="153" name="Google Shape;153;p24" title="Screenshot 2026-06-05 at 12.12.4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6177" y="2901761"/>
            <a:ext cx="1591649" cy="158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